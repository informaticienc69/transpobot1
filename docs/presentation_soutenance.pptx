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/>
              <a:t>TranspoBot</a:t>
            </a:r>
          </a:p>
          <a:p>
            <a:pPr algn="ctr"/>
            <a:r>
              <a:rPr sz="3600" b="1"/>
              <a:t>Application de Gestion de Transport Urbain avec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600"/>
              <a:t>Soutenance de Projet SGBD (2024-2025)</a:t>
            </a:r>
          </a:p>
          <a:p>
            <a:pPr algn="ctr"/>
            <a:r>
              <a:rPr sz="1600"/>
              <a:t>Université Cheikh Anta Diop de Dakar (UCAD)</a:t>
            </a:r>
          </a:p>
          <a:p>
            <a:pPr algn="ctr"/>
            <a:r>
              <a:rPr sz="1600"/>
              <a:t>École Supérieure Polytechnique (ESP)</a:t>
            </a:r>
          </a:p>
          <a:p>
            <a:pPr algn="ctr"/>
            <a:r>
              <a:rPr sz="1600"/>
              <a:t>Diplôme d'Ingénieur de Conception en Génie Informatique (DIC1)</a:t>
            </a:r>
          </a:p>
          <a:p>
            <a:pPr algn="ctr"/>
          </a:p>
          <a:p>
            <a:pPr algn="ctr"/>
            <a:r>
              <a:rPr sz="1600" b="0"/>
              <a:t>Membres du groupe :</a:t>
            </a:r>
          </a:p>
          <a:p>
            <a:pPr algn="ctr"/>
            <a:r>
              <a:rPr sz="1600" b="0"/>
              <a:t>• Hady KALOGA</a:t>
            </a:r>
          </a:p>
          <a:p>
            <a:pPr algn="ctr"/>
            <a:r>
              <a:rPr sz="1600" b="0"/>
              <a:t>• Aicha Baba LY</a:t>
            </a:r>
          </a:p>
          <a:p>
            <a:pPr algn="ctr"/>
            <a:r>
              <a:rPr sz="1600" b="0"/>
              <a:t>• Cheikh Saliou Mbacke LO</a:t>
            </a:r>
          </a:p>
          <a:p>
            <a:pPr algn="ctr"/>
            <a:r>
              <a:rPr sz="1600" b="0"/>
              <a:t>• Mame Aita Ndoye</a:t>
            </a:r>
          </a:p>
          <a:p>
            <a:pPr algn="ctr"/>
          </a:p>
          <a:p>
            <a:pPr algn="ctr"/>
            <a:r>
              <a:rPr sz="1600" b="1"/>
              <a:t>Enseignant : Pr. Amath Bamba MBACKE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secteur complexe : La gestion des transports urbains génère énormément de données (véhicules, trajets, recettes, pannes).</a:t>
            </a:r>
          </a:p>
          <a:p>
            <a:r>
              <a:t>L'exploitation de ces données est un processus qui nécessite historiquement des compétences techniques pointues (SQL, analyse de données).</a:t>
            </a:r>
          </a:p>
          <a:p>
            <a:r>
              <a:t>Notre objectif : Rendre cette gestion intuitive et l'exploration des données accessible aux gestionnaires administratifs sans bagage technique.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 &amp; Solution Pédagogique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difficulté réside dans l'abstraction des requêtes complexes en langage naturel compréhensible par la machine.</a:t>
            </a:r>
          </a:p>
          <a:p>
            <a:r>
              <a:t>TranspoBot résout cela via une intégration de l'Intelligence Artificielle (Text-to-SQL).</a:t>
            </a:r>
          </a:p>
          <a:p>
            <a:pPr lvl="1"/>
            <a:r>
              <a:t>- Double enjeu : Avoir un tableau de bord complet (CRUD) ET un chatbot IA.</a:t>
            </a:r>
          </a:p>
          <a:p>
            <a:pPr lvl="1"/>
            <a:r>
              <a:t>- Accompagnement en temps réel pour l'extraction de KPI (indicateurs).</a:t>
            </a:r>
          </a:p>
          <a:p>
            <a:r>
              <a:t>Au-delà des simples requêtes, les managers sont capables de lire et comprendre les anomalies avec précision.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&amp; Structure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Conception Merise (MCD) rigoureuse et logique (MLD) pour assurer l'intégrité.</a:t>
            </a:r>
          </a:p>
          <a:p>
            <a:r>
              <a:t>13 Tables SQL dans la base relationnelle MariaDB/MySQL :</a:t>
            </a:r>
          </a:p>
          <a:p>
            <a:pPr lvl="1"/>
            <a:r>
              <a:t>- Entités centrales : Véhicules, Chauffeurs, Trajets.</a:t>
            </a:r>
          </a:p>
          <a:p>
            <a:pPr lvl="1"/>
            <a:r>
              <a:t>- Gestion annexe : Maintenances, Incidents, Lignes de réseau.</a:t>
            </a:r>
          </a:p>
          <a:p>
            <a:pPr lvl="1"/>
            <a:r>
              <a:t>- Traçabilité : Historique d'audit IA et de Cyber-Sécurité.</a:t>
            </a:r>
          </a:p>
          <a:p>
            <a:r>
              <a:t>Mise en place de 'Triggers' MySQL pour le calcul des recettes automatiquement.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Technologiques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(Logique Serveur) : Python avec le framework asynchrone FastAPI.</a:t>
            </a:r>
          </a:p>
          <a:p>
            <a:r>
              <a:t>Frontend (Interface UI) : HTML5, CSS3 Vanilla, JavaScript Vanilla, Chart.js.</a:t>
            </a:r>
          </a:p>
          <a:p>
            <a:r>
              <a:t>Base de Données / Persistance : MySQL 8.0 déployé sur AlwaysData.</a:t>
            </a:r>
          </a:p>
          <a:p>
            <a:r>
              <a:t>Moteur IA et Inférence : API Groq LLaMA-3.3-70b-versatile (Très haute vitesse LPU).</a:t>
            </a:r>
          </a:p>
          <a:p>
            <a:r>
              <a:t>Pipeline complet de bout en bout respectant l'architecture Client-Serveur.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Métier (Dashboard)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temps-réel de l'ensemble des acteurs et paramètres du transport :</a:t>
            </a:r>
          </a:p>
          <a:p>
            <a:pPr lvl="1"/>
            <a:r>
              <a:t>- Suivi avancé des tickets d'incidents et affectation de la maintenance.</a:t>
            </a:r>
          </a:p>
          <a:p>
            <a:pPr lvl="1"/>
            <a:r>
              <a:t>- Alertes kilométriques pour la révision des moteurs.</a:t>
            </a:r>
          </a:p>
          <a:p>
            <a:pPr lvl="1"/>
            <a:r>
              <a:t>- Trajets : planification, horaires, chauffeurs affectés, tickets émis.</a:t>
            </a:r>
          </a:p>
          <a:p>
            <a:r>
              <a:t>Affichage interactif des KPI et statistiques analytiques dans la vue principale.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L'Assistant IA (Text-to-SQL)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coeur de l'innovation de notre plateforme.</a:t>
            </a:r>
          </a:p>
          <a:p>
            <a:r>
              <a:t>Processus strict en 2 étapes pour éviter les hallucinations du Modèle :</a:t>
            </a:r>
          </a:p>
          <a:p>
            <a:r>
              <a:t>1. Premier appel isolé (Temperature 0.0) : Génération stricte du SELECT avec le schéma de BDD complet injecté dans le contexte LLM.</a:t>
            </a:r>
          </a:p>
          <a:p>
            <a:r>
              <a:t>2. Deuxième appel (Temperature 0.4) : L'IA agit comme analyste bilingue pour vocaliser (narrativement) les chiffres en réponse.</a:t>
            </a:r>
          </a:p>
          <a:p>
            <a:r>
              <a:t>Garantie de non-modification: Toute question de type CREATE/UPDATE retourne l'alerte 'NON_SQL' interne.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et RBAC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Authentification robuste et structurée :</a:t>
            </a:r>
          </a:p>
          <a:p>
            <a:pPr lvl="1"/>
            <a:r>
              <a:t>- Implémentation JSON Web Token (JWT) avec délai d'expiration (8h).</a:t>
            </a:r>
          </a:p>
          <a:p>
            <a:pPr lvl="1"/>
            <a:r>
              <a:t>- Protection bruteforce : Logs en bdd sur N tentatives échouées, avec géolocalisation d'IP et bannissements de la plateforme.</a:t>
            </a:r>
          </a:p>
          <a:p>
            <a:r>
              <a:t>Gestion rigide des accréditations : Lecteur vs Gestionnaire vs SuperAdmin.</a:t>
            </a:r>
          </a:p>
          <a:p>
            <a:r>
              <a:t>Chiffrement bcrypt systématique sur l'enregistrement des credentials en BDD.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Portail de Supervision SOC / SuperAdmin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module isolé qui survole la vue gestionnaire standart.</a:t>
            </a:r>
          </a:p>
          <a:p>
            <a:r>
              <a:t>Objectif : Transparence et Gouvernance de la donnée (Audit).</a:t>
            </a:r>
          </a:p>
          <a:p>
            <a:pPr lvl="1"/>
            <a:r>
              <a:t>- Journalisation systématique des inputs textuels de l'IA.</a:t>
            </a:r>
          </a:p>
          <a:p>
            <a:pPr lvl="1"/>
            <a:r>
              <a:t>- Suivi précis de la latence, du format des requêtes LLM.</a:t>
            </a:r>
          </a:p>
          <a:p>
            <a:pPr lvl="1"/>
            <a:r>
              <a:t>- Moniteur complet des failles et requêtes bloquées au pare-feu applicatif.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 en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 &amp; Zero-Configuration Locale :</a:t>
            </a:r>
          </a:p>
          <a:p>
            <a:pPr lvl="1"/>
            <a:r>
              <a:t>- Workflow CI/CD depuis GitHub via webhook.</a:t>
            </a:r>
          </a:p>
          <a:p>
            <a:pPr lvl="1"/>
            <a:r>
              <a:t>- Hébergement managé : Render (Serveur Python) + AlwaysData (MySQL TCP).</a:t>
            </a:r>
          </a:p>
          <a:p>
            <a:pPr lvl="1"/>
            <a:r>
              <a:t>- Résolution de la latence 'Cold Start' serveur via des crons de Keep-Alive à 11min d'intervalle.</a:t>
            </a:r>
          </a:p>
          <a:p>
            <a:pPr lvl="1"/>
            <a:r>
              <a:t>- Injection sécurisée des clés d'API (Groq) et de variables d'environnement au déploiement.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 Pédagogique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Scénarios et validations fonctionnelles réalisées :</a:t>
            </a:r>
          </a:p>
          <a:p>
            <a:pPr lvl="1"/>
            <a:r>
              <a:t>- Création d'un Chauffeur/Véhicule et sa visualisation graphique instantanée.</a:t>
            </a:r>
          </a:p>
          <a:p>
            <a:pPr lvl="1"/>
            <a:r>
              <a:t>- Interrogation multilingue réussie avec groq : 'Combien de bus en panne ce mois ?'.</a:t>
            </a:r>
          </a:p>
          <a:p>
            <a:pPr lvl="1"/>
            <a:r>
              <a:t>- Sécurité validée sur des tests 'red-team'.</a:t>
            </a:r>
          </a:p>
          <a:p>
            <a:r>
              <a:t>L'application en ligne montre sa stabilité fonctionnelle optimale pour les acteurs finaux.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TranspoBot démontre que l'association de l'IA générative LLaMA3 avec des architectures de données classiques est très efficace.</a:t>
            </a:r>
          </a:p>
          <a:p>
            <a:r>
              <a:t>Atteinte totale de tous les cahiers des charges (Requis et Supplémentaires).</a:t>
            </a:r>
          </a:p>
          <a:p>
            <a:r>
              <a:t>Perspectives Futures d'évolution :</a:t>
            </a:r>
          </a:p>
          <a:p>
            <a:pPr lvl="1"/>
            <a:r>
              <a:t>- Application Mobile sur le bord pour remonter les alertes GPS en temps réel.</a:t>
            </a:r>
          </a:p>
          <a:p>
            <a:pPr lvl="1"/>
            <a:r>
              <a:t>- Fine-Tuning métier précis pour améliorer les prédictions logistiques à terme.</a:t>
            </a:r>
          </a:p>
          <a:p>
            <a: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